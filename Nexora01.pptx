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A0WuqRQ8v8RHPKMJjC66hcRAu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f0f061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af0f0615f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5558" l="-133724" r="-689466" t="-76167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862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10362341" y="2362123"/>
            <a:ext cx="6473404" cy="6759319"/>
          </a:xfrm>
          <a:custGeom>
            <a:rect b="b" l="l" r="r" t="t"/>
            <a:pathLst>
              <a:path extrusionOk="0" h="6759319" w="6473404">
                <a:moveTo>
                  <a:pt x="0" y="0"/>
                </a:moveTo>
                <a:lnTo>
                  <a:pt x="6473403" y="0"/>
                </a:lnTo>
                <a:lnTo>
                  <a:pt x="6473403" y="6759319"/>
                </a:lnTo>
                <a:lnTo>
                  <a:pt x="0" y="6759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10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>
            <a:off x="16376346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0" y="0"/>
                </a:moveTo>
                <a:lnTo>
                  <a:pt x="1981152" y="0"/>
                </a:lnTo>
                <a:lnTo>
                  <a:pt x="1981152" y="2331116"/>
                </a:lnTo>
                <a:lnTo>
                  <a:pt x="0" y="23311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243814" y="1910177"/>
            <a:ext cx="6993421" cy="1253616"/>
          </a:xfrm>
          <a:custGeom>
            <a:rect b="b" l="l" r="r" t="t"/>
            <a:pathLst>
              <a:path extrusionOk="0" h="1253616" w="6993421">
                <a:moveTo>
                  <a:pt x="0" y="0"/>
                </a:moveTo>
                <a:lnTo>
                  <a:pt x="6993421" y="0"/>
                </a:lnTo>
                <a:lnTo>
                  <a:pt x="6993421" y="1253616"/>
                </a:lnTo>
                <a:lnTo>
                  <a:pt x="0" y="1253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4842" l="0" r="0" t="-51111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286724" y="4076095"/>
            <a:ext cx="3143964" cy="7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8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TEAM NAME: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15376" y="5245125"/>
            <a:ext cx="7935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38">
                <a:latin typeface="Times"/>
                <a:ea typeface="Times"/>
                <a:cs typeface="Times"/>
                <a:sym typeface="Times"/>
              </a:rPr>
              <a:t>  </a:t>
            </a:r>
            <a:r>
              <a:rPr b="1" i="0" lang="en-US" sz="3838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</a:t>
            </a:r>
            <a:r>
              <a:rPr b="1" lang="en-US" sz="3838">
                <a:latin typeface="Times"/>
                <a:ea typeface="Times"/>
                <a:cs typeface="Times"/>
                <a:sym typeface="Times"/>
              </a:rPr>
              <a:t>LE</a:t>
            </a:r>
            <a:r>
              <a:rPr b="1" i="0" lang="en-US" sz="3838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 STATEMENT NO: </a:t>
            </a:r>
            <a:r>
              <a:rPr i="0" lang="en-US" sz="3838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15375" y="7678750"/>
            <a:ext cx="84081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5"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3905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PS Category- </a:t>
            </a:r>
            <a:r>
              <a:rPr i="0" lang="en-US" sz="3905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Hardware 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86725" y="6290650"/>
            <a:ext cx="177534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6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PROBLEM STATEMENT TITLE: </a:t>
            </a:r>
            <a:r>
              <a:rPr lang="en-US" sz="3769">
                <a:latin typeface="Times"/>
                <a:ea typeface="Times"/>
                <a:cs typeface="Times"/>
                <a:sym typeface="Times"/>
              </a:rPr>
              <a:t>FPGA- Based</a:t>
            </a:r>
            <a:r>
              <a:rPr b="1" i="0" lang="en-US" sz="3769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3769">
                <a:latin typeface="Times"/>
                <a:ea typeface="Times"/>
                <a:cs typeface="Times"/>
                <a:sym typeface="Times"/>
              </a:rPr>
              <a:t>Accident detection and GPS-SMS alert System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3631125" y="4067000"/>
            <a:ext cx="14409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NEXORA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5558" l="-133724" r="-689466" t="-76167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862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1139775" y="3429000"/>
            <a:ext cx="15827400" cy="73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eal-world problem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Accidents may go unreported when the driver cannot respond.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 teams may not receive the accident location quickly.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it matters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second matters during emergency response.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location sharing can reduce response delays.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challenges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does not always mean an accident.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Potholes, braking and vibrations can cause false triggers.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Single-sensor detection lacks reliability.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ctr">
              <a:lnSpc>
                <a:spcPct val="14000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1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755562" y="968727"/>
            <a:ext cx="8924116" cy="9318273"/>
          </a:xfrm>
          <a:custGeom>
            <a:rect b="b" l="l" r="r" t="t"/>
            <a:pathLst>
              <a:path extrusionOk="0" h="9318273" w="8924116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16316373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5148850" y="2042450"/>
            <a:ext cx="8924100" cy="11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62" l="0" r="0" t="0"/>
            </a:stretch>
          </a:blipFill>
          <a:ln>
            <a:noFill/>
          </a:ln>
        </p:spPr>
      </p:sp>
      <p:sp>
        <p:nvSpPr>
          <p:cNvPr id="113" name="Google Shape;113;p3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5558" l="-133724" r="-689466" t="-76167"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3"/>
          <p:cNvSpPr/>
          <p:nvPr/>
        </p:nvSpPr>
        <p:spPr>
          <a:xfrm>
            <a:off x="16306848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3"/>
          <p:cNvSpPr/>
          <p:nvPr/>
        </p:nvSpPr>
        <p:spPr>
          <a:xfrm>
            <a:off x="8855187" y="968727"/>
            <a:ext cx="8924116" cy="9318273"/>
          </a:xfrm>
          <a:custGeom>
            <a:rect b="b" l="l" r="r" t="t"/>
            <a:pathLst>
              <a:path extrusionOk="0" h="9318273" w="8924116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3"/>
          <p:cNvSpPr txBox="1"/>
          <p:nvPr/>
        </p:nvSpPr>
        <p:spPr>
          <a:xfrm>
            <a:off x="839850" y="3451200"/>
            <a:ext cx="16163700" cy="55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accident validation using multi-sensor fusion with automatic GPS-SMS emergency alerts.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it works</a:t>
            </a:r>
            <a:endParaRPr b="1"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→ Validate → Decide → Locate → Alert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Monitors </a:t>
            </a: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impact, acceleration &amp; speed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250 ms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event-validation window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70%</a:t>
            </a: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impact-validation threshold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Acceleration + </a:t>
            </a:r>
            <a:r>
              <a:rPr b="1"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speed-drop analysis</a:t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●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performs real-time accident decision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imes New Roman"/>
              <a:buChar char="●"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handles GPS &amp; GSM communication</a:t>
            </a:r>
            <a:endParaRPr b="1" i="0" sz="6213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310100" y="2035550"/>
            <a:ext cx="67254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</a:t>
            </a:r>
            <a:r>
              <a:rPr b="1" lang="en-US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62" l="0" r="0" t="0"/>
            </a:stretch>
          </a:blipFill>
          <a:ln>
            <a:noFill/>
          </a:ln>
        </p:spPr>
      </p:sp>
      <p:sp>
        <p:nvSpPr>
          <p:cNvPr id="127" name="Google Shape;127;p4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8780462" y="968727"/>
            <a:ext cx="8924116" cy="9318273"/>
          </a:xfrm>
          <a:custGeom>
            <a:rect b="b" l="l" r="r" t="t"/>
            <a:pathLst>
              <a:path extrusionOk="0" h="9318273" w="8924116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16306848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4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85558" l="-133724" r="-689466" t="-76167"/>
            </a:stretch>
          </a:blipFill>
          <a:ln>
            <a:noFill/>
          </a:ln>
        </p:spPr>
      </p:sp>
      <p:sp>
        <p:nvSpPr>
          <p:cNvPr id="132" name="Google Shape;132;p4"/>
          <p:cNvSpPr txBox="1"/>
          <p:nvPr/>
        </p:nvSpPr>
        <p:spPr>
          <a:xfrm>
            <a:off x="5009250" y="1563000"/>
            <a:ext cx="8269500" cy="9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BLOCK DIAGRAM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p4" title="b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00424" y="2218400"/>
            <a:ext cx="13487151" cy="76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62" l="0" r="0" t="0"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/>
          <p:nvPr/>
        </p:nvSpPr>
        <p:spPr>
          <a:xfrm>
            <a:off x="8780462" y="968727"/>
            <a:ext cx="8924116" cy="9318273"/>
          </a:xfrm>
          <a:custGeom>
            <a:rect b="b" l="l" r="r" t="t"/>
            <a:pathLst>
              <a:path extrusionOk="0" h="9318273" w="8924116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5"/>
          <p:cNvSpPr/>
          <p:nvPr/>
        </p:nvSpPr>
        <p:spPr>
          <a:xfrm>
            <a:off x="16306848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5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5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85558" l="-133724" r="-689466" t="-76167"/>
            </a:stretch>
          </a:blipFill>
          <a:ln>
            <a:noFill/>
          </a:ln>
        </p:spPr>
      </p:sp>
      <p:pic>
        <p:nvPicPr>
          <p:cNvPr id="146" name="Google Shape;146;p5" title="PI (2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33200" y="1808271"/>
            <a:ext cx="12233948" cy="815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af0f0615f_0_18"/>
          <p:cNvSpPr txBox="1"/>
          <p:nvPr/>
        </p:nvSpPr>
        <p:spPr>
          <a:xfrm>
            <a:off x="5218565" y="3601951"/>
            <a:ext cx="17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faf0f0615f_0_18"/>
          <p:cNvSpPr txBox="1"/>
          <p:nvPr/>
        </p:nvSpPr>
        <p:spPr>
          <a:xfrm>
            <a:off x="11330294" y="3601951"/>
            <a:ext cx="173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af0f0615f_0_18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60" l="0" r="0" t="0"/>
            </a:stretch>
          </a:blipFill>
          <a:ln>
            <a:noFill/>
          </a:ln>
        </p:spPr>
      </p:sp>
      <p:sp>
        <p:nvSpPr>
          <p:cNvPr id="154" name="Google Shape;154;g3faf0f0615f_0_18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g3faf0f0615f_0_18"/>
          <p:cNvSpPr/>
          <p:nvPr/>
        </p:nvSpPr>
        <p:spPr>
          <a:xfrm>
            <a:off x="8780462" y="968727"/>
            <a:ext cx="8924116" cy="9318273"/>
          </a:xfrm>
          <a:custGeom>
            <a:rect b="b" l="l" r="r" t="t"/>
            <a:pathLst>
              <a:path extrusionOk="0" h="9318273" w="8924116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8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g3faf0f0615f_0_18"/>
          <p:cNvSpPr/>
          <p:nvPr/>
        </p:nvSpPr>
        <p:spPr>
          <a:xfrm>
            <a:off x="16306848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g3faf0f0615f_0_18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faf0f0615f_0_18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85560" l="-133724" r="-689466" t="-76172"/>
            </a:stretch>
          </a:blipFill>
          <a:ln>
            <a:noFill/>
          </a:ln>
        </p:spPr>
      </p:sp>
      <p:sp>
        <p:nvSpPr>
          <p:cNvPr id="159" name="Google Shape;159;g3faf0f0615f_0_18"/>
          <p:cNvSpPr txBox="1"/>
          <p:nvPr/>
        </p:nvSpPr>
        <p:spPr>
          <a:xfrm>
            <a:off x="735600" y="1563000"/>
            <a:ext cx="155712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3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72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" name="Google Shape;160;g3faf0f0615f_0_18"/>
          <p:cNvSpPr txBox="1"/>
          <p:nvPr/>
        </p:nvSpPr>
        <p:spPr>
          <a:xfrm>
            <a:off x="1542099" y="2764775"/>
            <a:ext cx="14927100" cy="7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MAKES NEXORA DIFFERENT?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Impact Detection → Accident Validation</a:t>
            </a:r>
            <a:endParaRPr b="1"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Multi-sensor fusion</a:t>
            </a:r>
            <a:b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Shock + acceleration + speed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Temporal validation</a:t>
            </a:r>
            <a:b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250 ms observation window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Threshold-based validation</a:t>
            </a:r>
            <a:b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70% impact criterion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Combined accident analysis</a:t>
            </a:r>
            <a:b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Acceleration + speed-drop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FPGA-based decision-making</a:t>
            </a:r>
            <a:b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&amp; deterministic processing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Separated communication layer</a:t>
            </a:r>
            <a:b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ESP32 handles GPS + GSM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62" l="0" r="0" t="0"/>
            </a:stretch>
          </a:blipFill>
          <a:ln>
            <a:noFill/>
          </a:ln>
        </p:spPr>
      </p:sp>
      <p:sp>
        <p:nvSpPr>
          <p:cNvPr id="168" name="Google Shape;168;p6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6"/>
          <p:cNvSpPr/>
          <p:nvPr/>
        </p:nvSpPr>
        <p:spPr>
          <a:xfrm>
            <a:off x="8780462" y="968727"/>
            <a:ext cx="8924116" cy="9318273"/>
          </a:xfrm>
          <a:custGeom>
            <a:rect b="b" l="l" r="r" t="t"/>
            <a:pathLst>
              <a:path extrusionOk="0" h="9318273" w="8924116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6"/>
          <p:cNvSpPr/>
          <p:nvPr/>
        </p:nvSpPr>
        <p:spPr>
          <a:xfrm>
            <a:off x="16306848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6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6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85558" l="-133724" r="-689466" t="-76167"/>
            </a:stretch>
          </a:blipFill>
          <a:ln>
            <a:noFill/>
          </a:ln>
        </p:spPr>
      </p:sp>
      <p:sp>
        <p:nvSpPr>
          <p:cNvPr id="173" name="Google Shape;173;p6"/>
          <p:cNvSpPr txBox="1"/>
          <p:nvPr/>
        </p:nvSpPr>
        <p:spPr>
          <a:xfrm>
            <a:off x="735600" y="1563000"/>
            <a:ext cx="15571200" cy="30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 AND RESULTS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7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3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72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1542099" y="2764775"/>
            <a:ext cx="14927100" cy="7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Detection</a:t>
            </a:r>
            <a:b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250 ms validation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70% threshold evaluation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Accident Detection</a:t>
            </a:r>
            <a:b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Acceleration + speed-drop analysis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Verification</a:t>
            </a:r>
            <a:b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FSM verified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Risk classifier verified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UART telemetry verified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 Output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Location → GSM SMS Alert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3E5D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5218565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11330294" y="3601951"/>
            <a:ext cx="1739141" cy="1042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39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600883" y="-456041"/>
            <a:ext cx="8641637" cy="2621955"/>
          </a:xfrm>
          <a:custGeom>
            <a:rect b="b" l="l" r="r" t="t"/>
            <a:pathLst>
              <a:path extrusionOk="0" h="2621955" w="8641637">
                <a:moveTo>
                  <a:pt x="0" y="0"/>
                </a:moveTo>
                <a:lnTo>
                  <a:pt x="8641637" y="0"/>
                </a:lnTo>
                <a:lnTo>
                  <a:pt x="8641637" y="2621955"/>
                </a:lnTo>
                <a:lnTo>
                  <a:pt x="0" y="2621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862" l="0" r="0" t="0"/>
            </a:stretch>
          </a:blipFill>
          <a:ln>
            <a:noFill/>
          </a:ln>
        </p:spPr>
      </p:sp>
      <p:sp>
        <p:nvSpPr>
          <p:cNvPr id="182" name="Google Shape;182;p7"/>
          <p:cNvSpPr/>
          <p:nvPr/>
        </p:nvSpPr>
        <p:spPr>
          <a:xfrm>
            <a:off x="-25783" y="9121442"/>
            <a:ext cx="1165558" cy="1165558"/>
          </a:xfrm>
          <a:custGeom>
            <a:rect b="b" l="l" r="r" t="t"/>
            <a:pathLst>
              <a:path extrusionOk="0" h="1165558" w="1165558">
                <a:moveTo>
                  <a:pt x="0" y="0"/>
                </a:moveTo>
                <a:lnTo>
                  <a:pt x="1165558" y="0"/>
                </a:lnTo>
                <a:lnTo>
                  <a:pt x="1165558" y="1165558"/>
                </a:lnTo>
                <a:lnTo>
                  <a:pt x="0" y="1165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7"/>
          <p:cNvSpPr/>
          <p:nvPr/>
        </p:nvSpPr>
        <p:spPr>
          <a:xfrm>
            <a:off x="8780462" y="968727"/>
            <a:ext cx="8924116" cy="9318273"/>
          </a:xfrm>
          <a:custGeom>
            <a:rect b="b" l="l" r="r" t="t"/>
            <a:pathLst>
              <a:path extrusionOk="0" h="9318273" w="8924116">
                <a:moveTo>
                  <a:pt x="0" y="0"/>
                </a:moveTo>
                <a:lnTo>
                  <a:pt x="8924116" y="0"/>
                </a:lnTo>
                <a:lnTo>
                  <a:pt x="8924116" y="9318273"/>
                </a:lnTo>
                <a:lnTo>
                  <a:pt x="0" y="9318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7"/>
          <p:cNvSpPr/>
          <p:nvPr/>
        </p:nvSpPr>
        <p:spPr>
          <a:xfrm>
            <a:off x="16306848" y="7955884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6"/>
                </a:moveTo>
                <a:lnTo>
                  <a:pt x="0" y="2331116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6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7"/>
          <p:cNvSpPr/>
          <p:nvPr/>
        </p:nvSpPr>
        <p:spPr>
          <a:xfrm rot="10800000">
            <a:off x="12341" y="-112715"/>
            <a:ext cx="1981152" cy="2331116"/>
          </a:xfrm>
          <a:custGeom>
            <a:rect b="b" l="l" r="r" t="t"/>
            <a:pathLst>
              <a:path extrusionOk="0" h="2331116" w="1981152">
                <a:moveTo>
                  <a:pt x="1981152" y="2331117"/>
                </a:moveTo>
                <a:lnTo>
                  <a:pt x="0" y="2331117"/>
                </a:lnTo>
                <a:lnTo>
                  <a:pt x="0" y="0"/>
                </a:lnTo>
                <a:lnTo>
                  <a:pt x="1981152" y="0"/>
                </a:lnTo>
                <a:lnTo>
                  <a:pt x="1981152" y="2331117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7"/>
          <p:cNvSpPr/>
          <p:nvPr/>
        </p:nvSpPr>
        <p:spPr>
          <a:xfrm>
            <a:off x="16835744" y="146866"/>
            <a:ext cx="1204458" cy="1416140"/>
          </a:xfrm>
          <a:custGeom>
            <a:rect b="b" l="l" r="r" t="t"/>
            <a:pathLst>
              <a:path extrusionOk="0" h="1416140" w="1204458">
                <a:moveTo>
                  <a:pt x="0" y="0"/>
                </a:moveTo>
                <a:lnTo>
                  <a:pt x="1204458" y="0"/>
                </a:lnTo>
                <a:lnTo>
                  <a:pt x="1204458" y="1416140"/>
                </a:lnTo>
                <a:lnTo>
                  <a:pt x="0" y="14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85558" l="-133724" r="-689466" t="-76167"/>
            </a:stretch>
          </a:blipFill>
          <a:ln>
            <a:noFill/>
          </a:ln>
        </p:spPr>
      </p:sp>
      <p:sp>
        <p:nvSpPr>
          <p:cNvPr id="187" name="Google Shape;187;p7"/>
          <p:cNvSpPr txBox="1"/>
          <p:nvPr/>
        </p:nvSpPr>
        <p:spPr>
          <a:xfrm>
            <a:off x="-25776" y="2165930"/>
            <a:ext cx="18989700" cy="18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8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951475" y="3337675"/>
            <a:ext cx="16239900" cy="61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FPGA Based Accident Detection and Monitoring System for Safety Traffic</a:t>
            </a:r>
            <a:r>
              <a:rPr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— Fazal Noorbasha, K. D. M. Vikash Pani, K. Seetharam, S. Narendra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Accident Detection and Reporting System Using GPS, GPRS and GSM Technology</a:t>
            </a:r>
            <a:r>
              <a:rPr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— Md. Syedul Amin, Jubayer Jalil, M. B. I. Reaz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Automated Vehicle Accident Detection and Alert System Using GSM and GPS Technology</a:t>
            </a:r>
            <a:r>
              <a:rPr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— Nagesh Mahendra Ingle, Swapnil Bhika Billore, Yogesh Kumar, Shashank Kumar Singh, Anirban J. Hati</a:t>
            </a:r>
            <a:endParaRPr sz="3000">
              <a:solidFill>
                <a:srgbClr val="1F2937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IoT Based Automatic Vehicle Accident Alert System</a:t>
            </a:r>
            <a:r>
              <a:rPr lang="en-US" sz="3000">
                <a:solidFill>
                  <a:srgbClr val="1F2937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— Nazia Parveen, Ashif Ali, Aleem Ali</a:t>
            </a:r>
            <a:r>
              <a:rPr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